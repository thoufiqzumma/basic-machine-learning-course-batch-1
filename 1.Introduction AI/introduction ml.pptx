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40"/>
  </p:notesMasterIdLst>
  <p:sldIdLst>
    <p:sldId id="294" r:id="rId2"/>
    <p:sldId id="256" r:id="rId3"/>
    <p:sldId id="259" r:id="rId4"/>
    <p:sldId id="260" r:id="rId5"/>
    <p:sldId id="261" r:id="rId6"/>
    <p:sldId id="262" r:id="rId7"/>
    <p:sldId id="263" r:id="rId8"/>
    <p:sldId id="264" r:id="rId9"/>
    <p:sldId id="265" r:id="rId10"/>
    <p:sldId id="266" r:id="rId11"/>
    <p:sldId id="268" r:id="rId12"/>
    <p:sldId id="257" r:id="rId13"/>
    <p:sldId id="278" r:id="rId14"/>
    <p:sldId id="277" r:id="rId15"/>
    <p:sldId id="276" r:id="rId16"/>
    <p:sldId id="275" r:id="rId17"/>
    <p:sldId id="292" r:id="rId18"/>
    <p:sldId id="273" r:id="rId19"/>
    <p:sldId id="274" r:id="rId20"/>
    <p:sldId id="272" r:id="rId21"/>
    <p:sldId id="271" r:id="rId22"/>
    <p:sldId id="291" r:id="rId23"/>
    <p:sldId id="295" r:id="rId24"/>
    <p:sldId id="270" r:id="rId25"/>
    <p:sldId id="279" r:id="rId26"/>
    <p:sldId id="280" r:id="rId27"/>
    <p:sldId id="281" r:id="rId28"/>
    <p:sldId id="282" r:id="rId29"/>
    <p:sldId id="283" r:id="rId30"/>
    <p:sldId id="284" r:id="rId31"/>
    <p:sldId id="285" r:id="rId32"/>
    <p:sldId id="293" r:id="rId33"/>
    <p:sldId id="286" r:id="rId34"/>
    <p:sldId id="287" r:id="rId35"/>
    <p:sldId id="288" r:id="rId36"/>
    <p:sldId id="289" r:id="rId37"/>
    <p:sldId id="290"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B1A52-2E0C-4F77-80F3-94524BF684E2}" type="datetimeFigureOut">
              <a:rPr lang="en-US" smtClean="0"/>
              <a:t>10/5/2021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7B337F-B1B7-47CA-8F68-C0CAAFF14B99}" type="slidenum">
              <a:rPr lang="en-US" smtClean="0"/>
              <a:t>‹#›</a:t>
            </a:fld>
            <a:endParaRPr lang="en-US"/>
          </a:p>
        </p:txBody>
      </p:sp>
    </p:spTree>
    <p:extLst>
      <p:ext uri="{BB962C8B-B14F-4D97-AF65-F5344CB8AC3E}">
        <p14:creationId xmlns:p14="http://schemas.microsoft.com/office/powerpoint/2010/main" val="4137853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7B337F-B1B7-47CA-8F68-C0CAAFF14B99}" type="slidenum">
              <a:rPr lang="en-US" smtClean="0"/>
              <a:t>3</a:t>
            </a:fld>
            <a:endParaRPr lang="en-US"/>
          </a:p>
        </p:txBody>
      </p:sp>
    </p:spTree>
    <p:extLst>
      <p:ext uri="{BB962C8B-B14F-4D97-AF65-F5344CB8AC3E}">
        <p14:creationId xmlns:p14="http://schemas.microsoft.com/office/powerpoint/2010/main" val="1190905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1868402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1020907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4164798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41D6A25-F301-4807-9B36-72DFEBEA5E5A}"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417941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41D6A25-F301-4807-9B36-72DFEBEA5E5A}" type="datetimeFigureOut">
              <a:rPr lang="en-US" smtClean="0"/>
              <a:t>10/5/2021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4211341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946503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3771850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73093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D6A25-F301-4807-9B36-72DFEBEA5E5A}"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4248116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D6A25-F301-4807-9B36-72DFEBEA5E5A}"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39492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746222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86686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292557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36313914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709069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3305888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41D6A25-F301-4807-9B36-72DFEBEA5E5A}"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20C2F4-AEF6-4148-A8D3-11F99887924E}" type="slidenum">
              <a:rPr lang="en-US" smtClean="0"/>
              <a:t>‹#›</a:t>
            </a:fld>
            <a:endParaRPr lang="en-US"/>
          </a:p>
        </p:txBody>
      </p:sp>
    </p:spTree>
    <p:extLst>
      <p:ext uri="{BB962C8B-B14F-4D97-AF65-F5344CB8AC3E}">
        <p14:creationId xmlns:p14="http://schemas.microsoft.com/office/powerpoint/2010/main" val="10224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41D6A25-F301-4807-9B36-72DFEBEA5E5A}" type="datetimeFigureOut">
              <a:rPr lang="en-US" smtClean="0"/>
              <a:t>10/5/2021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020C2F4-AEF6-4148-A8D3-11F99887924E}" type="slidenum">
              <a:rPr lang="en-US" smtClean="0"/>
              <a:t>‹#›</a:t>
            </a:fld>
            <a:endParaRPr lang="en-US"/>
          </a:p>
        </p:txBody>
      </p:sp>
    </p:spTree>
    <p:extLst>
      <p:ext uri="{BB962C8B-B14F-4D97-AF65-F5344CB8AC3E}">
        <p14:creationId xmlns:p14="http://schemas.microsoft.com/office/powerpoint/2010/main" val="771380057"/>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680" y="357187"/>
            <a:ext cx="11764003" cy="6000750"/>
          </a:xfrm>
          <a:prstGeom prst="rect">
            <a:avLst/>
          </a:prstGeom>
        </p:spPr>
      </p:pic>
    </p:spTree>
    <p:extLst>
      <p:ext uri="{BB962C8B-B14F-4D97-AF65-F5344CB8AC3E}">
        <p14:creationId xmlns:p14="http://schemas.microsoft.com/office/powerpoint/2010/main" val="3130450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00626" y="2962947"/>
            <a:ext cx="11088292" cy="1569660"/>
          </a:xfrm>
          <a:prstGeom prst="rect">
            <a:avLst/>
          </a:prstGeom>
          <a:noFill/>
        </p:spPr>
        <p:txBody>
          <a:bodyPr wrap="none" rtlCol="0">
            <a:spAutoFit/>
          </a:bodyPr>
          <a:lstStyle/>
          <a:p>
            <a:r>
              <a:rPr lang="en-US" sz="4800" dirty="0" smtClean="0"/>
              <a:t>Introduction Basic machine Learning</a:t>
            </a:r>
          </a:p>
          <a:p>
            <a:endParaRPr lang="en-US" sz="4800" dirty="0"/>
          </a:p>
        </p:txBody>
      </p:sp>
    </p:spTree>
    <p:extLst>
      <p:ext uri="{BB962C8B-B14F-4D97-AF65-F5344CB8AC3E}">
        <p14:creationId xmlns:p14="http://schemas.microsoft.com/office/powerpoint/2010/main" val="1926884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099013"/>
            <a:ext cx="11415712" cy="3046988"/>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Machine learning is an application of artificial intelligence (AI) that provides systems the ability to automatically learn and improve from experience without being explicitly programmed. Machine learning focuses on the development of computer programs that can access data and use it learn for themselves.</a:t>
            </a:r>
          </a:p>
        </p:txBody>
      </p:sp>
    </p:spTree>
    <p:extLst>
      <p:ext uri="{BB962C8B-B14F-4D97-AF65-F5344CB8AC3E}">
        <p14:creationId xmlns:p14="http://schemas.microsoft.com/office/powerpoint/2010/main" val="1119524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4449" y="2514511"/>
            <a:ext cx="9415463" cy="2062103"/>
          </a:xfrm>
          <a:prstGeom prst="rect">
            <a:avLst/>
          </a:prstGeom>
        </p:spPr>
        <p:txBody>
          <a:bodyPr wrap="square">
            <a:spAutoFit/>
          </a:bodyPr>
          <a:lstStyle/>
          <a:p>
            <a:r>
              <a:rPr lang="en-US" sz="3200" dirty="0" smtClean="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It is a branch of artificial intelligence based on the idea that systems can learn from data, identify patterns and make decisions with minimal human intervention</a:t>
            </a:r>
          </a:p>
        </p:txBody>
      </p:sp>
    </p:spTree>
    <p:extLst>
      <p:ext uri="{BB962C8B-B14F-4D97-AF65-F5344CB8AC3E}">
        <p14:creationId xmlns:p14="http://schemas.microsoft.com/office/powerpoint/2010/main" val="339612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101" y="1614399"/>
            <a:ext cx="11244262" cy="2062103"/>
          </a:xfrm>
          <a:prstGeom prst="rect">
            <a:avLst/>
          </a:prstGeom>
        </p:spPr>
        <p:txBody>
          <a:bodyPr wrap="square">
            <a:spAutoFit/>
          </a:bodyPr>
          <a:lstStyle/>
          <a:p>
            <a:r>
              <a:rPr lang="en-US" sz="3200" dirty="0"/>
              <a:t>Machine learning at its most basic is the practice of using algorithms to parse data, learn from it, and then make a determination or prediction about something in the world</a:t>
            </a:r>
          </a:p>
        </p:txBody>
      </p:sp>
    </p:spTree>
    <p:extLst>
      <p:ext uri="{BB962C8B-B14F-4D97-AF65-F5344CB8AC3E}">
        <p14:creationId xmlns:p14="http://schemas.microsoft.com/office/powerpoint/2010/main" val="2051464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4028" y="2758560"/>
            <a:ext cx="9935862" cy="830997"/>
          </a:xfrm>
          <a:prstGeom prst="rect">
            <a:avLst/>
          </a:prstGeom>
        </p:spPr>
        <p:txBody>
          <a:bodyPr wrap="none">
            <a:spAutoFit/>
          </a:bodyPr>
          <a:lstStyle/>
          <a:p>
            <a:r>
              <a:rPr lang="en-US" sz="4800" dirty="0">
                <a:latin typeface="Arial" panose="020B0604020202020204" pitchFamily="34" charset="0"/>
                <a:cs typeface="Arial" panose="020B0604020202020204" pitchFamily="34" charset="0"/>
              </a:rPr>
              <a:t>How does Machine Learning </a:t>
            </a:r>
            <a:r>
              <a:rPr lang="en-US" sz="4800" dirty="0" smtClean="0">
                <a:latin typeface="Arial" panose="020B0604020202020204" pitchFamily="34" charset="0"/>
                <a:cs typeface="Arial" panose="020B0604020202020204" pitchFamily="34" charset="0"/>
              </a:rPr>
              <a:t>Work?</a:t>
            </a:r>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38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9305" y="518979"/>
            <a:ext cx="11497411" cy="5896108"/>
          </a:xfrm>
          <a:prstGeom prst="rect">
            <a:avLst/>
          </a:prstGeom>
        </p:spPr>
      </p:pic>
    </p:spTree>
    <p:extLst>
      <p:ext uri="{BB962C8B-B14F-4D97-AF65-F5344CB8AC3E}">
        <p14:creationId xmlns:p14="http://schemas.microsoft.com/office/powerpoint/2010/main" val="3710565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3145" y="2901434"/>
            <a:ext cx="7518405" cy="830997"/>
          </a:xfrm>
          <a:prstGeom prst="rect">
            <a:avLst/>
          </a:prstGeom>
        </p:spPr>
        <p:txBody>
          <a:bodyPr wrap="none">
            <a:spAutoFit/>
          </a:bodyPr>
          <a:lstStyle/>
          <a:p>
            <a:r>
              <a:rPr lang="en-US" sz="4800" dirty="0">
                <a:latin typeface="Arial" panose="020B0604020202020204" pitchFamily="34" charset="0"/>
                <a:cs typeface="Arial" panose="020B0604020202020204" pitchFamily="34" charset="0"/>
              </a:rPr>
              <a:t>Steps of Machine Learning</a:t>
            </a:r>
          </a:p>
        </p:txBody>
      </p:sp>
    </p:spTree>
    <p:extLst>
      <p:ext uri="{BB962C8B-B14F-4D97-AF65-F5344CB8AC3E}">
        <p14:creationId xmlns:p14="http://schemas.microsoft.com/office/powerpoint/2010/main" val="3795544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2189" y="1598414"/>
            <a:ext cx="4599336" cy="4031873"/>
          </a:xfrm>
          <a:prstGeom prst="rect">
            <a:avLst/>
          </a:prstGeom>
        </p:spPr>
        <p:txBody>
          <a:bodyPr wrap="none">
            <a:spAutoFit/>
          </a:bodyPr>
          <a:lstStyle/>
          <a:p>
            <a:r>
              <a:rPr lang="en-US" sz="3200" b="1" dirty="0">
                <a:latin typeface="Arial" panose="020B0604020202020204" pitchFamily="34" charset="0"/>
                <a:cs typeface="Arial" panose="020B0604020202020204" pitchFamily="34" charset="0"/>
              </a:rPr>
              <a:t>1 - Data Collection </a:t>
            </a:r>
            <a:endParaRPr lang="en-US" sz="3200" b="1" dirty="0" smtClean="0">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2 - Data Preparation </a:t>
            </a:r>
            <a:endParaRPr lang="en-US" sz="3200" b="1" dirty="0" smtClean="0">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3 - Choose a Model </a:t>
            </a:r>
            <a:endParaRPr lang="en-US" sz="3200" b="1" dirty="0" smtClean="0">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4- Train the Model</a:t>
            </a:r>
          </a:p>
          <a:p>
            <a:r>
              <a:rPr lang="en-US" sz="3200" b="1" dirty="0">
                <a:latin typeface="Arial" panose="020B0604020202020204" pitchFamily="34" charset="0"/>
                <a:cs typeface="Arial" panose="020B0604020202020204" pitchFamily="34" charset="0"/>
              </a:rPr>
              <a:t>5 - Evaluate the Model </a:t>
            </a:r>
            <a:endParaRPr lang="en-US" sz="3200" b="1" dirty="0" smtClean="0">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6 - Parameter Tuning</a:t>
            </a:r>
          </a:p>
          <a:p>
            <a:r>
              <a:rPr lang="en-US" sz="3200" b="1" dirty="0">
                <a:latin typeface="Arial" panose="020B0604020202020204" pitchFamily="34" charset="0"/>
                <a:cs typeface="Arial" panose="020B0604020202020204" pitchFamily="34" charset="0"/>
              </a:rPr>
              <a:t>7 - Make Predictions </a:t>
            </a:r>
          </a:p>
          <a:p>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1786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7855" y="3001446"/>
            <a:ext cx="5942652" cy="830997"/>
          </a:xfrm>
          <a:prstGeom prst="rect">
            <a:avLst/>
          </a:prstGeom>
        </p:spPr>
        <p:txBody>
          <a:bodyPr wrap="none">
            <a:spAutoFit/>
          </a:bodyPr>
          <a:lstStyle/>
          <a:p>
            <a:r>
              <a:rPr lang="en-US" sz="4800" dirty="0">
                <a:latin typeface="Arial" panose="020B0604020202020204" pitchFamily="34" charset="0"/>
                <a:cs typeface="Arial" panose="020B0604020202020204" pitchFamily="34" charset="0"/>
              </a:rPr>
              <a:t>Feature Engineering </a:t>
            </a:r>
          </a:p>
        </p:txBody>
      </p:sp>
    </p:spTree>
    <p:extLst>
      <p:ext uri="{BB962C8B-B14F-4D97-AF65-F5344CB8AC3E}">
        <p14:creationId xmlns:p14="http://schemas.microsoft.com/office/powerpoint/2010/main" val="2434842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09855" y="2958584"/>
            <a:ext cx="8340745" cy="830997"/>
          </a:xfrm>
          <a:prstGeom prst="rect">
            <a:avLst/>
          </a:prstGeom>
        </p:spPr>
        <p:txBody>
          <a:bodyPr wrap="none">
            <a:spAutoFit/>
          </a:bodyPr>
          <a:lstStyle/>
          <a:p>
            <a:r>
              <a:rPr lang="en-US" sz="4800" dirty="0">
                <a:latin typeface="Arial" panose="020B0604020202020204" pitchFamily="34" charset="0"/>
                <a:cs typeface="Arial" panose="020B0604020202020204" pitchFamily="34" charset="0"/>
              </a:rPr>
              <a:t>Steps in Feature Engineering </a:t>
            </a:r>
          </a:p>
        </p:txBody>
      </p:sp>
    </p:spTree>
    <p:extLst>
      <p:ext uri="{BB962C8B-B14F-4D97-AF65-F5344CB8AC3E}">
        <p14:creationId xmlns:p14="http://schemas.microsoft.com/office/powerpoint/2010/main" val="1116055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0137" y="1351687"/>
            <a:ext cx="9244013" cy="4031873"/>
          </a:xfrm>
          <a:prstGeom prst="rect">
            <a:avLst/>
          </a:prstGeom>
        </p:spPr>
        <p:txBody>
          <a:bodyPr wrap="square">
            <a:spAutoFit/>
          </a:bodyPr>
          <a:lstStyle/>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Select data - selecting correct features and integrate all of them into a dataset. </a:t>
            </a: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Preprocess </a:t>
            </a:r>
            <a:r>
              <a:rPr lang="en-US" sz="3200" dirty="0">
                <a:latin typeface="Arial" panose="020B0604020202020204" pitchFamily="34" charset="0"/>
                <a:cs typeface="Arial" panose="020B0604020202020204" pitchFamily="34" charset="0"/>
              </a:rPr>
              <a:t>the data - Format the data, clean it, add new features, etc. </a:t>
            </a: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Model </a:t>
            </a:r>
            <a:r>
              <a:rPr lang="en-US" sz="3200" dirty="0">
                <a:latin typeface="Arial" panose="020B0604020202020204" pitchFamily="34" charset="0"/>
                <a:cs typeface="Arial" panose="020B0604020202020204" pitchFamily="34" charset="0"/>
              </a:rPr>
              <a:t>the data - Creating models, evaluating them and tuning them</a:t>
            </a:r>
          </a:p>
        </p:txBody>
      </p:sp>
    </p:spTree>
    <p:extLst>
      <p:ext uri="{BB962C8B-B14F-4D97-AF65-F5344CB8AC3E}">
        <p14:creationId xmlns:p14="http://schemas.microsoft.com/office/powerpoint/2010/main" val="1361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3" y="2262873"/>
            <a:ext cx="12172950" cy="1569660"/>
          </a:xfrm>
          <a:prstGeom prst="rect">
            <a:avLst/>
          </a:prstGeom>
        </p:spPr>
        <p:txBody>
          <a:bodyPr wrap="square">
            <a:spAutoFit/>
          </a:bodyPr>
          <a:lstStyle/>
          <a:p>
            <a:r>
              <a:rPr lang="en-US" sz="4800" dirty="0">
                <a:latin typeface="Arial" panose="020B0604020202020204" pitchFamily="34" charset="0"/>
                <a:cs typeface="Arial" panose="020B0604020202020204" pitchFamily="34" charset="0"/>
              </a:rPr>
              <a:t>Terminologies that one should know before starting Machine Learning:</a:t>
            </a:r>
          </a:p>
        </p:txBody>
      </p:sp>
    </p:spTree>
    <p:extLst>
      <p:ext uri="{BB962C8B-B14F-4D97-AF65-F5344CB8AC3E}">
        <p14:creationId xmlns:p14="http://schemas.microsoft.com/office/powerpoint/2010/main" val="3119226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18421" y="772596"/>
            <a:ext cx="3362844" cy="5355312"/>
          </a:xfrm>
          <a:prstGeom prst="rect">
            <a:avLst/>
          </a:prstGeom>
        </p:spPr>
        <p:txBody>
          <a:bodyPr wrap="none">
            <a:spAutoFit/>
          </a:bodyPr>
          <a:lstStyle/>
          <a:p>
            <a:pPr marL="285750" indent="-285750">
              <a:buFont typeface="Arial" panose="020B0604020202020204" pitchFamily="34" charset="0"/>
              <a:buChar char="•"/>
            </a:pPr>
            <a:r>
              <a:rPr lang="en-US" sz="3600" b="1" dirty="0" smtClean="0">
                <a:latin typeface="Arial" panose="020B0604020202020204" pitchFamily="34" charset="0"/>
                <a:cs typeface="Arial" panose="020B0604020202020204" pitchFamily="34" charset="0"/>
              </a:rPr>
              <a:t>Model</a:t>
            </a:r>
          </a:p>
          <a:p>
            <a:pPr marL="285750" indent="-285750">
              <a:buFont typeface="Arial" panose="020B0604020202020204" pitchFamily="34" charset="0"/>
              <a:buChar char="•"/>
            </a:pPr>
            <a:endParaRPr lang="en-US" sz="36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600" b="1" dirty="0" smtClean="0">
                <a:latin typeface="Arial" panose="020B0604020202020204" pitchFamily="34" charset="0"/>
                <a:cs typeface="Arial" panose="020B0604020202020204" pitchFamily="34" charset="0"/>
              </a:rPr>
              <a:t>Feature</a:t>
            </a:r>
          </a:p>
          <a:p>
            <a:pPr marL="285750" indent="-285750">
              <a:buFont typeface="Arial" panose="020B0604020202020204" pitchFamily="34" charset="0"/>
              <a:buChar char="•"/>
            </a:pPr>
            <a:endParaRPr lang="en-US" sz="36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600" b="1" dirty="0">
                <a:latin typeface="Arial" panose="020B0604020202020204" pitchFamily="34" charset="0"/>
                <a:cs typeface="Arial" panose="020B0604020202020204" pitchFamily="34" charset="0"/>
              </a:rPr>
              <a:t>Target(Label</a:t>
            </a:r>
            <a:r>
              <a:rPr lang="en-US" sz="3600" b="1"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sz="36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600" b="1" dirty="0" smtClean="0">
                <a:latin typeface="Arial" panose="020B0604020202020204" pitchFamily="34" charset="0"/>
                <a:cs typeface="Arial" panose="020B0604020202020204" pitchFamily="34" charset="0"/>
              </a:rPr>
              <a:t>Training</a:t>
            </a:r>
          </a:p>
          <a:p>
            <a:pPr marL="285750" indent="-285750">
              <a:buFont typeface="Arial" panose="020B0604020202020204" pitchFamily="34" charset="0"/>
              <a:buChar char="•"/>
            </a:pPr>
            <a:endParaRPr lang="en-US" sz="36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600" b="1" dirty="0">
                <a:latin typeface="Arial" panose="020B0604020202020204" pitchFamily="34" charset="0"/>
                <a:cs typeface="Arial" panose="020B0604020202020204" pitchFamily="34" charset="0"/>
              </a:rPr>
              <a:t>Prediction</a:t>
            </a:r>
            <a:endParaRPr lang="en-US" sz="3600" b="1" dirty="0" smtClean="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081939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4338" y="115836"/>
            <a:ext cx="11372850" cy="6556427"/>
          </a:xfrm>
          <a:prstGeom prst="rect">
            <a:avLst/>
          </a:prstGeom>
        </p:spPr>
      </p:pic>
    </p:spTree>
    <p:extLst>
      <p:ext uri="{BB962C8B-B14F-4D97-AF65-F5344CB8AC3E}">
        <p14:creationId xmlns:p14="http://schemas.microsoft.com/office/powerpoint/2010/main" val="129418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900571" y="2614614"/>
            <a:ext cx="10365736" cy="3611880"/>
          </a:xfrm>
          <a:prstGeom prst="rect">
            <a:avLst/>
          </a:prstGeom>
        </p:spPr>
      </p:pic>
      <p:sp>
        <p:nvSpPr>
          <p:cNvPr id="4" name="Rectangle 3"/>
          <p:cNvSpPr/>
          <p:nvPr/>
        </p:nvSpPr>
        <p:spPr>
          <a:xfrm>
            <a:off x="1905000" y="865912"/>
            <a:ext cx="9525000" cy="646331"/>
          </a:xfrm>
          <a:prstGeom prst="rect">
            <a:avLst/>
          </a:prstGeom>
        </p:spPr>
        <p:txBody>
          <a:bodyPr wrap="square">
            <a:spAutoFit/>
          </a:bodyPr>
          <a:lstStyle/>
          <a:p>
            <a:r>
              <a:rPr lang="en-US" sz="3600" b="1" dirty="0">
                <a:latin typeface="Arial" panose="020B0604020202020204" pitchFamily="34" charset="0"/>
                <a:cs typeface="Arial" panose="020B0604020202020204" pitchFamily="34" charset="0"/>
              </a:rPr>
              <a:t>Supervised Learning</a:t>
            </a:r>
            <a:r>
              <a:rPr lang="en-US" sz="3600" dirty="0" smtClean="0">
                <a:latin typeface="Arial" panose="020B0604020202020204" pitchFamily="34" charset="0"/>
                <a:cs typeface="Arial" panose="020B0604020202020204" pitchFamily="34" charset="0"/>
              </a:rPr>
              <a:t>:</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7896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5100" y="1652885"/>
            <a:ext cx="7539038" cy="1754326"/>
          </a:xfrm>
          <a:prstGeom prst="rect">
            <a:avLst/>
          </a:prstGeom>
        </p:spPr>
        <p:txBody>
          <a:bodyPr wrap="square">
            <a:spAutoFit/>
          </a:bodyPr>
          <a:lstStyle/>
          <a:p>
            <a:r>
              <a:rPr lang="en-US" sz="3600" b="1" dirty="0">
                <a:latin typeface="Arial" panose="020B0604020202020204" pitchFamily="34" charset="0"/>
                <a:cs typeface="Arial" panose="020B0604020202020204" pitchFamily="34" charset="0"/>
              </a:rPr>
              <a:t>Types of Supervised Learning:</a:t>
            </a:r>
          </a:p>
          <a:p>
            <a:pPr marL="742950" lvl="1" indent="-285750">
              <a:buFont typeface="Arial" panose="020B0604020202020204" pitchFamily="34" charset="0"/>
              <a:buChar char="•"/>
            </a:pPr>
            <a:r>
              <a:rPr lang="en-US" sz="3600" b="1" dirty="0">
                <a:latin typeface="Arial" panose="020B0604020202020204" pitchFamily="34" charset="0"/>
                <a:cs typeface="Arial" panose="020B0604020202020204" pitchFamily="34" charset="0"/>
              </a:rPr>
              <a:t>Classification </a:t>
            </a:r>
          </a:p>
          <a:p>
            <a:pPr marL="742950" lvl="1" indent="-285750">
              <a:buFont typeface="Arial" panose="020B0604020202020204" pitchFamily="34" charset="0"/>
              <a:buChar char="•"/>
            </a:pPr>
            <a:r>
              <a:rPr lang="en-US" sz="3600" b="1" dirty="0">
                <a:latin typeface="Arial" panose="020B0604020202020204" pitchFamily="34" charset="0"/>
                <a:cs typeface="Arial" panose="020B0604020202020204" pitchFamily="34" charset="0"/>
              </a:rPr>
              <a:t>Regression</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4717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85875" y="1512281"/>
            <a:ext cx="9068057" cy="3450512"/>
          </a:xfrm>
          <a:prstGeom prst="rect">
            <a:avLst/>
          </a:prstGeom>
        </p:spPr>
      </p:pic>
    </p:spTree>
    <p:extLst>
      <p:ext uri="{BB962C8B-B14F-4D97-AF65-F5344CB8AC3E}">
        <p14:creationId xmlns:p14="http://schemas.microsoft.com/office/powerpoint/2010/main" val="2373700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05256" y="2240048"/>
            <a:ext cx="9138981" cy="255454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Types of Unsupervised Learning</a:t>
            </a:r>
            <a:r>
              <a:rPr lang="en-US" sz="3200" dirty="0">
                <a:latin typeface="Arial" panose="020B0604020202020204" pitchFamily="34" charset="0"/>
                <a:cs typeface="Arial" panose="020B0604020202020204" pitchFamily="34" charset="0"/>
              </a:rPr>
              <a:t>:</a:t>
            </a:r>
          </a:p>
          <a:p>
            <a:endParaRPr lang="en-US" sz="3200" dirty="0">
              <a:latin typeface="Arial" panose="020B0604020202020204" pitchFamily="34" charset="0"/>
              <a:cs typeface="Arial" panose="020B0604020202020204" pitchFamily="34" charset="0"/>
            </a:endParaRPr>
          </a:p>
          <a:p>
            <a:pPr marL="914400" lvl="1" indent="-457200">
              <a:buFont typeface="Arial" panose="020B0604020202020204" pitchFamily="34" charset="0"/>
              <a:buChar char="•"/>
            </a:pPr>
            <a:r>
              <a:rPr lang="en-US" sz="3200" b="1" dirty="0" smtClean="0">
                <a:latin typeface="Arial" panose="020B0604020202020204" pitchFamily="34" charset="0"/>
                <a:cs typeface="Arial" panose="020B0604020202020204" pitchFamily="34" charset="0"/>
              </a:rPr>
              <a:t>Clustering</a:t>
            </a:r>
            <a:r>
              <a:rPr lang="en-US" sz="3200" dirty="0" smtClean="0">
                <a:latin typeface="Arial" panose="020B0604020202020204" pitchFamily="34" charset="0"/>
                <a:cs typeface="Arial" panose="020B0604020202020204" pitchFamily="34" charset="0"/>
              </a:rPr>
              <a:t> </a:t>
            </a:r>
          </a:p>
          <a:p>
            <a:pPr marL="914400" lvl="1"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914400" lvl="1" indent="-457200">
              <a:buFont typeface="Arial" panose="020B0604020202020204" pitchFamily="34" charset="0"/>
              <a:buChar char="•"/>
            </a:pPr>
            <a:r>
              <a:rPr lang="en-US" sz="3200" b="1" dirty="0">
                <a:latin typeface="Arial" panose="020B0604020202020204" pitchFamily="34" charset="0"/>
                <a:cs typeface="Arial" panose="020B0604020202020204" pitchFamily="34" charset="0"/>
              </a:rPr>
              <a:t>Association</a:t>
            </a:r>
          </a:p>
        </p:txBody>
      </p:sp>
    </p:spTree>
    <p:extLst>
      <p:ext uri="{BB962C8B-B14F-4D97-AF65-F5344CB8AC3E}">
        <p14:creationId xmlns:p14="http://schemas.microsoft.com/office/powerpoint/2010/main" val="1628498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5407" y="2844284"/>
            <a:ext cx="4006225" cy="646331"/>
          </a:xfrm>
          <a:prstGeom prst="rect">
            <a:avLst/>
          </a:prstGeom>
        </p:spPr>
        <p:txBody>
          <a:bodyPr wrap="none">
            <a:spAutoFit/>
          </a:bodyPr>
          <a:lstStyle/>
          <a:p>
            <a:r>
              <a:rPr lang="en-US" sz="3600" dirty="0">
                <a:latin typeface="Arial" panose="020B0604020202020204" pitchFamily="34" charset="0"/>
                <a:cs typeface="Arial" panose="020B0604020202020204" pitchFamily="34" charset="0"/>
              </a:rPr>
              <a:t>Applications Of RL</a:t>
            </a:r>
          </a:p>
        </p:txBody>
      </p:sp>
    </p:spTree>
    <p:extLst>
      <p:ext uri="{BB962C8B-B14F-4D97-AF65-F5344CB8AC3E}">
        <p14:creationId xmlns:p14="http://schemas.microsoft.com/office/powerpoint/2010/main" val="1078126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1438" y="2201346"/>
            <a:ext cx="4903715" cy="1846659"/>
          </a:xfrm>
          <a:prstGeom prst="rect">
            <a:avLst/>
          </a:prstGeom>
        </p:spPr>
        <p:txBody>
          <a:bodyPr wrap="none">
            <a:spAutoFit/>
          </a:bodyPr>
          <a:lstStyle/>
          <a:p>
            <a:pPr marL="457200" indent="-457200">
              <a:buFont typeface="Arial" panose="020B0604020202020204" pitchFamily="34" charset="0"/>
              <a:buChar char="•"/>
            </a:pPr>
            <a:r>
              <a:rPr lang="en-US" sz="3200" b="1" dirty="0">
                <a:latin typeface="Arial" panose="020B0604020202020204" pitchFamily="34" charset="0"/>
                <a:cs typeface="Arial" panose="020B0604020202020204" pitchFamily="34" charset="0"/>
              </a:rPr>
              <a:t>In self-driving cars </a:t>
            </a:r>
            <a:endParaRPr lang="en-US" sz="32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b="1" dirty="0">
                <a:latin typeface="Arial" panose="020B0604020202020204" pitchFamily="34" charset="0"/>
                <a:cs typeface="Arial" panose="020B0604020202020204" pitchFamily="34" charset="0"/>
              </a:rPr>
              <a:t>Industry Automation </a:t>
            </a:r>
            <a:endParaRPr lang="en-US" sz="32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b="1" dirty="0">
                <a:latin typeface="Arial" panose="020B0604020202020204" pitchFamily="34" charset="0"/>
                <a:cs typeface="Arial" panose="020B0604020202020204" pitchFamily="34" charset="0"/>
              </a:rPr>
              <a:t>Stock Market Trading </a:t>
            </a:r>
            <a:endParaRPr lang="en-US" sz="3200" b="1" dirty="0" smtClean="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94843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0872" y="3031865"/>
            <a:ext cx="10461325" cy="646331"/>
          </a:xfrm>
          <a:prstGeom prst="rect">
            <a:avLst/>
          </a:prstGeom>
        </p:spPr>
        <p:txBody>
          <a:bodyPr wrap="none">
            <a:spAutoFit/>
          </a:bodyPr>
          <a:lstStyle/>
          <a:p>
            <a:r>
              <a:rPr lang="en-US" sz="3600" dirty="0">
                <a:latin typeface="Arial" panose="020B0604020202020204" pitchFamily="34" charset="0"/>
                <a:cs typeface="Arial" panose="020B0604020202020204" pitchFamily="34" charset="0"/>
              </a:rPr>
              <a:t>Introduction To Deep Learning &amp; Neural Networks.</a:t>
            </a:r>
          </a:p>
        </p:txBody>
      </p:sp>
    </p:spTree>
    <p:extLst>
      <p:ext uri="{BB962C8B-B14F-4D97-AF65-F5344CB8AC3E}">
        <p14:creationId xmlns:p14="http://schemas.microsoft.com/office/powerpoint/2010/main" val="348209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85874" y="552758"/>
            <a:ext cx="9386887" cy="5652779"/>
          </a:xfrm>
          <a:prstGeom prst="rect">
            <a:avLst/>
          </a:prstGeom>
        </p:spPr>
      </p:pic>
    </p:spTree>
    <p:extLst>
      <p:ext uri="{BB962C8B-B14F-4D97-AF65-F5344CB8AC3E}">
        <p14:creationId xmlns:p14="http://schemas.microsoft.com/office/powerpoint/2010/main" val="1460061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88" y="2443073"/>
            <a:ext cx="8901112" cy="1815882"/>
          </a:xfrm>
          <a:prstGeom prst="rect">
            <a:avLst/>
          </a:prstGeom>
        </p:spPr>
        <p:txBody>
          <a:bodyPr wrap="square">
            <a:spAutoFit/>
          </a:bodyPr>
          <a:lstStyle/>
          <a:p>
            <a:r>
              <a:rPr lang="en-US" sz="2800" dirty="0">
                <a:latin typeface="Arial" panose="020B0604020202020204" pitchFamily="34" charset="0"/>
                <a:cs typeface="Arial" panose="020B0604020202020204" pitchFamily="34" charset="0"/>
              </a:rPr>
              <a:t>Deep learning is a subset of machine learning in which multi-layered neural networks—modeled to work like the human brain and they learn from large amounts of data. </a:t>
            </a:r>
          </a:p>
        </p:txBody>
      </p:sp>
    </p:spTree>
    <p:extLst>
      <p:ext uri="{BB962C8B-B14F-4D97-AF65-F5344CB8AC3E}">
        <p14:creationId xmlns:p14="http://schemas.microsoft.com/office/powerpoint/2010/main" val="1533115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25" y="1289000"/>
            <a:ext cx="10987087" cy="5016758"/>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Some Example of Deep Learnings are</a:t>
            </a:r>
            <a:r>
              <a:rPr lang="en-US" sz="3200" dirty="0" smtClean="0">
                <a:latin typeface="Arial" panose="020B0604020202020204" pitchFamily="34" charset="0"/>
                <a:cs typeface="Arial" panose="020B0604020202020204" pitchFamily="34" charset="0"/>
              </a:rPr>
              <a:t>:</a:t>
            </a: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Image </a:t>
            </a:r>
            <a:r>
              <a:rPr lang="en-US" sz="3200" dirty="0">
                <a:latin typeface="Arial" panose="020B0604020202020204" pitchFamily="34" charset="0"/>
                <a:cs typeface="Arial" panose="020B0604020202020204" pitchFamily="34" charset="0"/>
              </a:rPr>
              <a:t>Classification</a:t>
            </a: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Detection </a:t>
            </a: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Face </a:t>
            </a:r>
            <a:r>
              <a:rPr lang="en-US" sz="3200" dirty="0">
                <a:latin typeface="Arial" panose="020B0604020202020204" pitchFamily="34" charset="0"/>
                <a:cs typeface="Arial" panose="020B0604020202020204" pitchFamily="34" charset="0"/>
              </a:rPr>
              <a:t>Detection</a:t>
            </a: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Voice </a:t>
            </a:r>
            <a:r>
              <a:rPr lang="en-US" sz="3200" dirty="0">
                <a:latin typeface="Arial" panose="020B0604020202020204" pitchFamily="34" charset="0"/>
                <a:cs typeface="Arial" panose="020B0604020202020204" pitchFamily="34" charset="0"/>
              </a:rPr>
              <a:t>Assistance </a:t>
            </a: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r>
              <a:rPr lang="en-US" sz="3200" dirty="0">
                <a:latin typeface="Arial" panose="020B0604020202020204" pitchFamily="34" charset="0"/>
                <a:cs typeface="Arial" panose="020B0604020202020204" pitchFamily="34" charset="0"/>
              </a:rPr>
              <a:t>We actually need Deep learning to process large amount of Data. For processing large amount of data it needs powerful processing machine as well</a:t>
            </a:r>
          </a:p>
        </p:txBody>
      </p:sp>
    </p:spTree>
    <p:extLst>
      <p:ext uri="{BB962C8B-B14F-4D97-AF65-F5344CB8AC3E}">
        <p14:creationId xmlns:p14="http://schemas.microsoft.com/office/powerpoint/2010/main" val="2058952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49" y="1141751"/>
            <a:ext cx="10658475" cy="5016758"/>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How deep learning Works ? </a:t>
            </a:r>
            <a:endParaRPr lang="en-US" sz="3200" dirty="0" smtClean="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Uses </a:t>
            </a:r>
            <a:r>
              <a:rPr lang="en-US" sz="3200" dirty="0">
                <a:latin typeface="Arial" panose="020B0604020202020204" pitchFamily="34" charset="0"/>
                <a:cs typeface="Arial" panose="020B0604020202020204" pitchFamily="34" charset="0"/>
              </a:rPr>
              <a:t>a neural network to imitate the intelligence of animals</a:t>
            </a:r>
            <a:r>
              <a:rPr lang="en-US" sz="3200" dirty="0" smtClean="0">
                <a:latin typeface="Arial" panose="020B0604020202020204" pitchFamily="34" charset="0"/>
                <a:cs typeface="Arial" panose="020B0604020202020204" pitchFamily="34" charset="0"/>
              </a:rPr>
              <a:t>.</a:t>
            </a: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The </a:t>
            </a:r>
            <a:r>
              <a:rPr lang="en-US" sz="3200" dirty="0">
                <a:latin typeface="Arial" panose="020B0604020202020204" pitchFamily="34" charset="0"/>
                <a:cs typeface="Arial" panose="020B0604020202020204" pitchFamily="34" charset="0"/>
              </a:rPr>
              <a:t>neurons are grouped into 3 layers - input, output and hidden layer</a:t>
            </a:r>
            <a:r>
              <a:rPr lang="en-US" sz="3200" dirty="0" smtClean="0">
                <a:latin typeface="Arial" panose="020B0604020202020204" pitchFamily="34" charset="0"/>
                <a:cs typeface="Arial" panose="020B0604020202020204" pitchFamily="34" charset="0"/>
              </a:rPr>
              <a:t>.</a:t>
            </a: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Deep </a:t>
            </a:r>
            <a:r>
              <a:rPr lang="en-US" sz="3200" dirty="0">
                <a:latin typeface="Arial" panose="020B0604020202020204" pitchFamily="34" charset="0"/>
                <a:cs typeface="Arial" panose="020B0604020202020204" pitchFamily="34" charset="0"/>
              </a:rPr>
              <a:t>Learning can be both supervised or unsupervised.</a:t>
            </a:r>
          </a:p>
        </p:txBody>
      </p:sp>
    </p:spTree>
    <p:extLst>
      <p:ext uri="{BB962C8B-B14F-4D97-AF65-F5344CB8AC3E}">
        <p14:creationId xmlns:p14="http://schemas.microsoft.com/office/powerpoint/2010/main" val="152088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6654" y="1515889"/>
            <a:ext cx="8652378" cy="3656185"/>
          </a:xfrm>
          <a:prstGeom prst="rect">
            <a:avLst/>
          </a:prstGeom>
        </p:spPr>
      </p:pic>
    </p:spTree>
    <p:extLst>
      <p:ext uri="{BB962C8B-B14F-4D97-AF65-F5344CB8AC3E}">
        <p14:creationId xmlns:p14="http://schemas.microsoft.com/office/powerpoint/2010/main" val="3807091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7725" y="1384638"/>
            <a:ext cx="11344275" cy="3539430"/>
          </a:xfrm>
          <a:prstGeom prst="rect">
            <a:avLst/>
          </a:prstGeom>
        </p:spPr>
        <p:txBody>
          <a:bodyPr wrap="square">
            <a:spAutoFit/>
          </a:bodyPr>
          <a:lstStyle/>
          <a:p>
            <a:r>
              <a:rPr lang="en-US" sz="2800" dirty="0">
                <a:latin typeface="Arial" panose="020B0604020202020204" pitchFamily="34" charset="0"/>
                <a:cs typeface="Arial" panose="020B0604020202020204" pitchFamily="34" charset="0"/>
              </a:rPr>
              <a:t>Common Deep Learning </a:t>
            </a:r>
            <a:r>
              <a:rPr lang="en-US" sz="2800" dirty="0" smtClean="0">
                <a:latin typeface="Arial" panose="020B0604020202020204" pitchFamily="34" charset="0"/>
                <a:cs typeface="Arial" panose="020B0604020202020204" pitchFamily="34" charset="0"/>
              </a:rPr>
              <a:t>Algorithms</a:t>
            </a:r>
          </a:p>
          <a:p>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smtClean="0">
                <a:latin typeface="Arial" panose="020B0604020202020204" pitchFamily="34" charset="0"/>
                <a:cs typeface="Arial" panose="020B0604020202020204" pitchFamily="34" charset="0"/>
              </a:rPr>
              <a:t>Multi-Layer </a:t>
            </a:r>
            <a:r>
              <a:rPr lang="en-US" sz="2800" dirty="0">
                <a:latin typeface="Arial" panose="020B0604020202020204" pitchFamily="34" charset="0"/>
                <a:cs typeface="Arial" panose="020B0604020202020204" pitchFamily="34" charset="0"/>
              </a:rPr>
              <a:t>Perceptron (MLP) </a:t>
            </a:r>
          </a:p>
          <a:p>
            <a:pPr marL="457200" indent="-457200">
              <a:buFont typeface="Arial" panose="020B0604020202020204" pitchFamily="34" charset="0"/>
              <a:buChar char="•"/>
            </a:pPr>
            <a:r>
              <a:rPr lang="en-US" sz="2800" dirty="0" smtClean="0">
                <a:latin typeface="Arial" panose="020B0604020202020204" pitchFamily="34" charset="0"/>
                <a:cs typeface="Arial" panose="020B0604020202020204" pitchFamily="34" charset="0"/>
              </a:rPr>
              <a:t>Convolutional </a:t>
            </a:r>
            <a:r>
              <a:rPr lang="en-US" sz="2800" dirty="0">
                <a:latin typeface="Arial" panose="020B0604020202020204" pitchFamily="34" charset="0"/>
                <a:cs typeface="Arial" panose="020B0604020202020204" pitchFamily="34" charset="0"/>
              </a:rPr>
              <a:t>Neural Network (CNN) </a:t>
            </a:r>
          </a:p>
          <a:p>
            <a:pPr marL="457200" indent="-457200">
              <a:buFont typeface="Arial" panose="020B0604020202020204" pitchFamily="34" charset="0"/>
              <a:buChar char="•"/>
            </a:pPr>
            <a:r>
              <a:rPr lang="en-US" sz="2800" dirty="0" smtClean="0">
                <a:latin typeface="Arial" panose="020B0604020202020204" pitchFamily="34" charset="0"/>
                <a:cs typeface="Arial" panose="020B0604020202020204" pitchFamily="34" charset="0"/>
              </a:rPr>
              <a:t>Recurrent </a:t>
            </a:r>
            <a:r>
              <a:rPr lang="en-US" sz="2800" dirty="0">
                <a:latin typeface="Arial" panose="020B0604020202020204" pitchFamily="34" charset="0"/>
                <a:cs typeface="Arial" panose="020B0604020202020204" pitchFamily="34" charset="0"/>
              </a:rPr>
              <a:t>Neural Networks (RNN) </a:t>
            </a:r>
          </a:p>
          <a:p>
            <a:pPr marL="457200" indent="-457200">
              <a:buFont typeface="Arial" panose="020B0604020202020204" pitchFamily="34" charset="0"/>
              <a:buChar char="•"/>
            </a:pPr>
            <a:r>
              <a:rPr lang="en-US" sz="2800" dirty="0" smtClean="0">
                <a:latin typeface="Arial" panose="020B0604020202020204" pitchFamily="34" charset="0"/>
                <a:cs typeface="Arial" panose="020B0604020202020204" pitchFamily="34" charset="0"/>
              </a:rPr>
              <a:t>Long </a:t>
            </a:r>
            <a:r>
              <a:rPr lang="en-US" sz="2800" dirty="0">
                <a:latin typeface="Arial" panose="020B0604020202020204" pitchFamily="34" charset="0"/>
                <a:cs typeface="Arial" panose="020B0604020202020204" pitchFamily="34" charset="0"/>
              </a:rPr>
              <a:t>Short Term Memory Networks (</a:t>
            </a:r>
            <a:r>
              <a:rPr lang="en-US" sz="2800" dirty="0" smtClean="0">
                <a:latin typeface="Arial" panose="020B0604020202020204" pitchFamily="34" charset="0"/>
                <a:cs typeface="Arial" panose="020B0604020202020204" pitchFamily="34" charset="0"/>
              </a:rPr>
              <a:t>LSTMs)</a:t>
            </a:r>
          </a:p>
          <a:p>
            <a:pPr marL="457200" indent="-457200">
              <a:buFont typeface="Arial" panose="020B0604020202020204" pitchFamily="34" charset="0"/>
              <a:buChar char="•"/>
            </a:pPr>
            <a:r>
              <a:rPr lang="en-US" sz="2800" dirty="0" smtClean="0">
                <a:latin typeface="Arial" panose="020B0604020202020204" pitchFamily="34" charset="0"/>
                <a:cs typeface="Arial" panose="020B0604020202020204" pitchFamily="34" charset="0"/>
              </a:rPr>
              <a:t>Generative </a:t>
            </a:r>
            <a:r>
              <a:rPr lang="en-US" sz="2800" dirty="0">
                <a:latin typeface="Arial" panose="020B0604020202020204" pitchFamily="34" charset="0"/>
                <a:cs typeface="Arial" panose="020B0604020202020204" pitchFamily="34" charset="0"/>
              </a:rPr>
              <a:t>Adversarial Networks (GANs)</a:t>
            </a:r>
          </a:p>
          <a:p>
            <a:pPr marL="457200" indent="-457200">
              <a:buFont typeface="Arial" panose="020B0604020202020204" pitchFamily="34" charset="0"/>
              <a:buChar char="•"/>
            </a:pPr>
            <a:r>
              <a:rPr lang="en-US" sz="2800" dirty="0" err="1" smtClean="0">
                <a:latin typeface="Arial" panose="020B0604020202020204" pitchFamily="34" charset="0"/>
                <a:cs typeface="Arial" panose="020B0604020202020204" pitchFamily="34" charset="0"/>
              </a:rPr>
              <a:t>Autoencoders</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4112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1" y="3023108"/>
            <a:ext cx="14201844" cy="707886"/>
          </a:xfrm>
          <a:prstGeom prst="rect">
            <a:avLst/>
          </a:prstGeom>
        </p:spPr>
        <p:txBody>
          <a:bodyPr wrap="square">
            <a:spAutoFit/>
          </a:bodyPr>
          <a:lstStyle/>
          <a:p>
            <a:r>
              <a:rPr lang="en-US" sz="4000" dirty="0">
                <a:latin typeface="Arial" panose="020B0604020202020204" pitchFamily="34" charset="0"/>
                <a:cs typeface="Arial" panose="020B0604020202020204" pitchFamily="34" charset="0"/>
              </a:rPr>
              <a:t>Introduction To Natural Language Processing</a:t>
            </a:r>
          </a:p>
        </p:txBody>
      </p:sp>
    </p:spTree>
    <p:extLst>
      <p:ext uri="{BB962C8B-B14F-4D97-AF65-F5344CB8AC3E}">
        <p14:creationId xmlns:p14="http://schemas.microsoft.com/office/powerpoint/2010/main" val="4018762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86" y="1783526"/>
            <a:ext cx="11515725" cy="3539430"/>
          </a:xfrm>
          <a:prstGeom prst="rect">
            <a:avLst/>
          </a:prstGeom>
        </p:spPr>
        <p:txBody>
          <a:bodyPr wrap="square">
            <a:spAutoFit/>
          </a:bodyPr>
          <a:lstStyle/>
          <a:p>
            <a:r>
              <a:rPr lang="en-US" sz="2800" dirty="0">
                <a:latin typeface="Arial" panose="020B0604020202020204" pitchFamily="34" charset="0"/>
                <a:cs typeface="Arial" panose="020B0604020202020204" pitchFamily="34" charset="0"/>
              </a:rPr>
              <a:t>Machine learning data only works with numerical features so we have to convert text data into numerical columns. So we have to preprocess the text and that is called natural language processing</a:t>
            </a:r>
            <a:r>
              <a:rPr lang="en-US" sz="2800" dirty="0" smtClean="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In-text preprocess we are cleaning our text by steaming, lemmatization, remove </a:t>
            </a:r>
            <a:r>
              <a:rPr lang="en-US" sz="2800" dirty="0" err="1">
                <a:latin typeface="Arial" panose="020B0604020202020204" pitchFamily="34" charset="0"/>
                <a:cs typeface="Arial" panose="020B0604020202020204" pitchFamily="34" charset="0"/>
              </a:rPr>
              <a:t>stopwords</a:t>
            </a:r>
            <a:r>
              <a:rPr lang="en-US" sz="2800" dirty="0">
                <a:latin typeface="Arial" panose="020B0604020202020204" pitchFamily="34" charset="0"/>
                <a:cs typeface="Arial" panose="020B0604020202020204" pitchFamily="34" charset="0"/>
              </a:rPr>
              <a:t>, remove special symbols and numbers, etc. After cleaning the data we have to feed this text data into a </a:t>
            </a:r>
            <a:r>
              <a:rPr lang="en-US" sz="2800" dirty="0" err="1">
                <a:latin typeface="Arial" panose="020B0604020202020204" pitchFamily="34" charset="0"/>
                <a:cs typeface="Arial" panose="020B0604020202020204" pitchFamily="34" charset="0"/>
              </a:rPr>
              <a:t>vectorizer</a:t>
            </a:r>
            <a:r>
              <a:rPr lang="en-US" sz="2800" dirty="0">
                <a:latin typeface="Arial" panose="020B0604020202020204" pitchFamily="34" charset="0"/>
                <a:cs typeface="Arial" panose="020B0604020202020204" pitchFamily="34" charset="0"/>
              </a:rPr>
              <a:t> which will convert this text data into numerical features.</a:t>
            </a:r>
          </a:p>
        </p:txBody>
      </p:sp>
    </p:spTree>
    <p:extLst>
      <p:ext uri="{BB962C8B-B14F-4D97-AF65-F5344CB8AC3E}">
        <p14:creationId xmlns:p14="http://schemas.microsoft.com/office/powerpoint/2010/main" val="639755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1663" y="3244334"/>
            <a:ext cx="10856569" cy="830997"/>
          </a:xfrm>
          <a:prstGeom prst="rect">
            <a:avLst/>
          </a:prstGeom>
        </p:spPr>
        <p:txBody>
          <a:bodyPr wrap="square">
            <a:spAutoFit/>
          </a:bodyPr>
          <a:lstStyle/>
          <a:p>
            <a:r>
              <a:rPr lang="en-US" sz="4800" dirty="0">
                <a:latin typeface="Arial" panose="020B0604020202020204" pitchFamily="34" charset="0"/>
                <a:ea typeface="Calibri" panose="020F0502020204030204" pitchFamily="34" charset="0"/>
                <a:cs typeface="Arial" panose="020B0604020202020204" pitchFamily="34" charset="0"/>
              </a:rPr>
              <a:t>Basic NLP Terminologies </a:t>
            </a:r>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8697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miro.medium.com/max/1067/1*BiVCmiQtCBIdBNcaOKjurg.png"/>
          <p:cNvPicPr/>
          <p:nvPr/>
        </p:nvPicPr>
        <p:blipFill>
          <a:blip r:embed="rId2">
            <a:extLst>
              <a:ext uri="{28A0092B-C50C-407E-A947-70E740481C1C}">
                <a14:useLocalDpi xmlns:a14="http://schemas.microsoft.com/office/drawing/2010/main" val="0"/>
              </a:ext>
            </a:extLst>
          </a:blip>
          <a:srcRect/>
          <a:stretch>
            <a:fillRect/>
          </a:stretch>
        </p:blipFill>
        <p:spPr bwMode="auto">
          <a:xfrm>
            <a:off x="1014411" y="2709862"/>
            <a:ext cx="10287001" cy="1905001"/>
          </a:xfrm>
          <a:prstGeom prst="rect">
            <a:avLst/>
          </a:prstGeom>
          <a:noFill/>
          <a:ln>
            <a:noFill/>
          </a:ln>
        </p:spPr>
      </p:pic>
    </p:spTree>
    <p:extLst>
      <p:ext uri="{BB962C8B-B14F-4D97-AF65-F5344CB8AC3E}">
        <p14:creationId xmlns:p14="http://schemas.microsoft.com/office/powerpoint/2010/main" val="2918290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5374" y="886896"/>
            <a:ext cx="3424335" cy="4524315"/>
          </a:xfrm>
          <a:prstGeom prst="rect">
            <a:avLst/>
          </a:prstGeom>
        </p:spPr>
        <p:txBody>
          <a:bodyPr wrap="none">
            <a:spAutoFit/>
          </a:bodyPr>
          <a:lstStyle/>
          <a:p>
            <a:pPr marL="457200" indent="-457200">
              <a:buFont typeface="Arial" panose="020B0604020202020204" pitchFamily="34" charset="0"/>
              <a:buChar char="•"/>
            </a:pPr>
            <a:r>
              <a:rPr lang="en-US" sz="3200" dirty="0" smtClean="0">
                <a:latin typeface="Arial" panose="020B0604020202020204" pitchFamily="34" charset="0"/>
                <a:ea typeface="Calibri" panose="020F0502020204030204" pitchFamily="34" charset="0"/>
                <a:cs typeface="Arial" panose="020B0604020202020204" pitchFamily="34" charset="0"/>
              </a:rPr>
              <a:t>Tokenization</a:t>
            </a:r>
          </a:p>
          <a:p>
            <a:pPr marL="457200" indent="-457200">
              <a:buFont typeface="Arial" panose="020B0604020202020204" pitchFamily="34" charset="0"/>
              <a:buChar char="•"/>
            </a:pPr>
            <a:endParaRPr lang="en-US" sz="3200" dirty="0" smtClean="0">
              <a:latin typeface="Arial" panose="020B0604020202020204" pitchFamily="34" charset="0"/>
              <a:ea typeface="Calibri" panose="020F050202020403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Normalization</a:t>
            </a:r>
          </a:p>
          <a:p>
            <a:pPr marL="457200" indent="-457200">
              <a:buFont typeface="Arial" panose="020B0604020202020204" pitchFamily="34" charset="0"/>
              <a:buChar char="•"/>
            </a:pP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Stemming </a:t>
            </a: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Lemmatization </a:t>
            </a: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smtClean="0">
                <a:latin typeface="Arial" panose="020B0604020202020204" pitchFamily="34" charset="0"/>
                <a:cs typeface="Arial" panose="020B0604020202020204" pitchFamily="34" charset="0"/>
              </a:rPr>
              <a:t>Stop </a:t>
            </a:r>
            <a:r>
              <a:rPr lang="en-US" sz="3200" dirty="0">
                <a:latin typeface="Arial" panose="020B0604020202020204" pitchFamily="34" charset="0"/>
                <a:cs typeface="Arial" panose="020B0604020202020204" pitchFamily="34" charset="0"/>
              </a:rPr>
              <a:t>words </a:t>
            </a:r>
          </a:p>
        </p:txBody>
      </p:sp>
    </p:spTree>
    <p:extLst>
      <p:ext uri="{BB962C8B-B14F-4D97-AF65-F5344CB8AC3E}">
        <p14:creationId xmlns:p14="http://schemas.microsoft.com/office/powerpoint/2010/main" val="3059664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1797" y="2677439"/>
            <a:ext cx="8299388" cy="764184"/>
          </a:xfrm>
          <a:prstGeom prst="rect">
            <a:avLst/>
          </a:prstGeom>
        </p:spPr>
        <p:txBody>
          <a:bodyPr wrap="none">
            <a:spAutoFit/>
          </a:bodyPr>
          <a:lstStyle/>
          <a:p>
            <a:pPr>
              <a:lnSpc>
                <a:spcPct val="107000"/>
              </a:lnSpc>
              <a:spcAft>
                <a:spcPts val="800"/>
              </a:spcAft>
            </a:pPr>
            <a:r>
              <a:rPr lang="en-US" sz="4400" dirty="0">
                <a:latin typeface="Arial" panose="020B0604020202020204" pitchFamily="34" charset="0"/>
                <a:ea typeface="Calibri" panose="020F0502020204030204" pitchFamily="34" charset="0"/>
                <a:cs typeface="Arial" panose="020B0604020202020204" pitchFamily="34" charset="0"/>
              </a:rPr>
              <a:t>Some Common NLP Algorithms </a:t>
            </a:r>
            <a:endParaRPr lang="en-US" sz="44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16910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62087" y="1733073"/>
            <a:ext cx="10139363" cy="2554545"/>
          </a:xfrm>
          <a:prstGeom prst="rect">
            <a:avLst/>
          </a:prstGeom>
        </p:spPr>
        <p:txBody>
          <a:bodyPr wrap="square">
            <a:spAutoFit/>
          </a:bodyPr>
          <a:lstStyle/>
          <a:p>
            <a:r>
              <a:rPr lang="en-US" sz="3200" dirty="0">
                <a:latin typeface="Arial" panose="020B0604020202020204" pitchFamily="34" charset="0"/>
                <a:ea typeface="Calibri" panose="020F0502020204030204" pitchFamily="34" charset="0"/>
                <a:cs typeface="Arial" panose="020B0604020202020204" pitchFamily="34" charset="0"/>
              </a:rPr>
              <a:t>TF-IDF - Full form is Term Frequency-Inverse Document Frequency. It aims on defining how significant a word is in a document. Also it considers the relation between other documents from the same corpus. It is a keyword extraction </a:t>
            </a:r>
            <a:r>
              <a:rPr lang="en-US" sz="3200" dirty="0" smtClean="0">
                <a:latin typeface="Arial" panose="020B0604020202020204" pitchFamily="34" charset="0"/>
                <a:ea typeface="Calibri" panose="020F0502020204030204" pitchFamily="34" charset="0"/>
                <a:cs typeface="Arial" panose="020B0604020202020204" pitchFamily="34" charset="0"/>
              </a:rPr>
              <a:t>algorithm.</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101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4413" y="2485936"/>
            <a:ext cx="10958512" cy="2554545"/>
          </a:xfrm>
          <a:prstGeom prst="rect">
            <a:avLst/>
          </a:prstGeom>
        </p:spPr>
        <p:txBody>
          <a:bodyPr wrap="square">
            <a:spAutoFit/>
          </a:bodyPr>
          <a:lstStyle/>
          <a:p>
            <a:r>
              <a:rPr lang="en-US" sz="3200" dirty="0">
                <a:latin typeface="Arial" panose="020B0604020202020204" pitchFamily="34" charset="0"/>
                <a:ea typeface="Calibri" panose="020F0502020204030204" pitchFamily="34" charset="0"/>
                <a:cs typeface="Arial" panose="020B0604020202020204" pitchFamily="34" charset="0"/>
              </a:rPr>
              <a:t>Deep Learning algorithms such as - convolutional neural network, recurrent neural network, </a:t>
            </a:r>
            <a:r>
              <a:rPr lang="en-US" sz="3200" dirty="0" err="1">
                <a:latin typeface="Arial" panose="020B0604020202020204" pitchFamily="34" charset="0"/>
                <a:ea typeface="Calibri" panose="020F0502020204030204" pitchFamily="34" charset="0"/>
                <a:cs typeface="Arial" panose="020B0604020202020204" pitchFamily="34" charset="0"/>
              </a:rPr>
              <a:t>lstm</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err="1">
                <a:latin typeface="Arial" panose="020B0604020202020204" pitchFamily="34" charset="0"/>
                <a:ea typeface="Calibri" panose="020F0502020204030204" pitchFamily="34" charset="0"/>
                <a:cs typeface="Arial" panose="020B0604020202020204" pitchFamily="34" charset="0"/>
              </a:rPr>
              <a:t>etc</a:t>
            </a:r>
            <a:r>
              <a:rPr lang="en-US" sz="3200" dirty="0">
                <a:latin typeface="Arial" panose="020B0604020202020204" pitchFamily="34" charset="0"/>
                <a:ea typeface="Calibri" panose="020F0502020204030204" pitchFamily="34" charset="0"/>
                <a:cs typeface="Arial" panose="020B0604020202020204" pitchFamily="34" charset="0"/>
              </a:rPr>
              <a:t> can also be used. Reinforcement Learning can also be used in some NLP tasks such as - image captioning and machine translation.</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5025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49" y="500063"/>
            <a:ext cx="11872913" cy="5829299"/>
          </a:xfrm>
          <a:prstGeom prst="rect">
            <a:avLst/>
          </a:prstGeom>
        </p:spPr>
      </p:pic>
    </p:spTree>
    <p:extLst>
      <p:ext uri="{BB962C8B-B14F-4D97-AF65-F5344CB8AC3E}">
        <p14:creationId xmlns:p14="http://schemas.microsoft.com/office/powerpoint/2010/main" val="1921438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611" y="228599"/>
            <a:ext cx="10505515" cy="6429375"/>
          </a:xfrm>
          <a:prstGeom prst="rect">
            <a:avLst/>
          </a:prstGeom>
        </p:spPr>
      </p:pic>
    </p:spTree>
    <p:extLst>
      <p:ext uri="{BB962C8B-B14F-4D97-AF65-F5344CB8AC3E}">
        <p14:creationId xmlns:p14="http://schemas.microsoft.com/office/powerpoint/2010/main" val="903485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409</TotalTime>
  <Words>581</Words>
  <Application>Microsoft Office PowerPoint</Application>
  <PresentationFormat>Widescreen</PresentationFormat>
  <Paragraphs>86</Paragraphs>
  <Slides>38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21</cp:revision>
  <dcterms:created xsi:type="dcterms:W3CDTF">2021-09-28T17:03:31Z</dcterms:created>
  <dcterms:modified xsi:type="dcterms:W3CDTF">2021-10-05T13:00:06Z</dcterms:modified>
</cp:coreProperties>
</file>